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640080"/>
            <a:ext cx="457200" cy="381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CC9F0"/>
                </a:solidFill>
                <a:latin typeface="Montserrat"/>
              </a:rPr>
              <a:t>BRANDBOOK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FFFFFF"/>
                </a:solidFill>
                <a:latin typeface="Montserrat"/>
              </a:rPr>
              <a:t>NordFlow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4F7FA"/>
                </a:solidFill>
                <a:latin typeface="Montserrat"/>
              </a:rPr>
              <a:t>Идентичность бренда · руководство по применению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8A99AD"/>
                </a:solidFill>
                <a:latin typeface="Segoe UI"/>
              </a:rPr>
              <a:t>Разработка сайтов, мобильных приложений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8A99AD"/>
                </a:solidFill>
                <a:latin typeface="Segoe UI"/>
              </a:rPr>
              <a:t>и автоматизация бизнес-процессов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8A99AD"/>
                </a:solidFill>
                <a:latin typeface="Segoe UI"/>
              </a:rPr>
              <a:t>для малого и среднего бизнеса.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F4F7FA"/>
                </a:solidFill>
                <a:latin typeface="Montserrat"/>
              </a:rPr>
              <a:t>nordflow.io  ·  hello@nordflow.io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562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01 · О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Мы — цифровая студия из северной школы дизайна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943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735"/>
                </a:solidFill>
                <a:latin typeface="Segoe UI"/>
              </a:rPr>
              <a:t>NordFlow — команда разработчиков и дизайнеров, которая помогает малому и среднему бизнесу расти через цифровые продукты.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735"/>
                </a:solidFill>
                <a:latin typeface="Segoe UI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1B2735"/>
                </a:solidFill>
                <a:latin typeface="Segoe UI"/>
              </a:rPr>
              <a:t>Мы объединяем скандинавскую строгость формы с гибкостью современных технологий: делаем сайты, мобильные приложения и внутренние сервисы, которые снимают рутину и приносят выручку.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011680"/>
            <a:ext cx="4206240" cy="384048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C9F0"/>
                </a:solidFill>
                <a:latin typeface="Montserrat"/>
              </a:rPr>
              <a:t>В ЦИФРАХ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65176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120+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7889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9AD"/>
                </a:solidFill>
                <a:latin typeface="Segoe UI"/>
              </a:rPr>
              <a:t>проектов сдано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42900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5661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9AD"/>
                </a:solidFill>
                <a:latin typeface="Segoe UI"/>
              </a:rPr>
              <a:t>клиентов в портфеле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06240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6 нед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343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9AD"/>
                </a:solidFill>
                <a:latin typeface="Segoe UI"/>
              </a:rPr>
              <a:t>средний срок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983479"/>
            <a:ext cx="1645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512063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A99AD"/>
                </a:solidFill>
                <a:latin typeface="Segoe UI"/>
              </a:rPr>
              <a:t>поддержка продукта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02 · МИССИЯ И ЦЕННОСТИ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Технологии без хаоса. Дизайн без лишнего.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606040" cy="109728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Ясность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Простой продукт побеждает сложный. Мы убираем лишнее.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19456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194560"/>
            <a:ext cx="2606040" cy="109728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2514600"/>
            <a:ext cx="502920" cy="502920"/>
          </a:xfrm>
          <a:prstGeom prst="ellipse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Скорость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7947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MVP за 6 недель. Итерации — короткими спринтами.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194560"/>
            <a:ext cx="2606040" cy="1097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2514600"/>
            <a:ext cx="502920" cy="502920"/>
          </a:xfrm>
          <a:prstGeom prst="ellipse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Надёжность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947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Код с тестами, инфраструктура с мониторингом,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2194560"/>
            <a:ext cx="2606040" cy="34747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39" y="2194560"/>
            <a:ext cx="2606040" cy="109728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59" y="2514600"/>
            <a:ext cx="502920" cy="50292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59" y="32461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Партнёрство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794760"/>
            <a:ext cx="2194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Работаем как команда клиента, а не подрядчик.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03 · УСЛУГИ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Что мы делаем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" cy="41148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Веб-разработка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Корпоративные сайты, лендинги, e-commerce, личные кабинеты и SaaS-платформы.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4348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Next.js · React · Vue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93775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Дизайн UX/UI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44067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SEO и аналитика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011680"/>
            <a:ext cx="109728" cy="41148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40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Мобильные приложения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7889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Нативные и кроссплатформенные приложения для iOS и Android с фокусом на UX.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44348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Flutter · React Native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493775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Swift · Kotlin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44067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Публикация в сторы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011680"/>
            <a:ext cx="356616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7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59" y="2011680"/>
            <a:ext cx="109728" cy="41148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19" y="2240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Автоматизация бизнеса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78892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CRM, ERP-модули, интеграции 1С, боты, внутренние порталы и BI-дашборды.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19" y="4434840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1С · Bitrix · amoCRM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19" y="493775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n8n · Make ·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19" y="544067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0">
                <a:solidFill>
                  <a:srgbClr val="0B2E4F"/>
                </a:solidFill>
                <a:latin typeface="Montserrat"/>
              </a:rPr>
              <a:t>AI-ассистенты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04 · ЛОГОТИП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Основная версия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8580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86000"/>
            <a:ext cx="594360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СЛОВЕСНАЯ ЧАСТЬ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51460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0B2E4F"/>
                </a:solidFill>
                <a:latin typeface="Montserrat"/>
              </a:rPr>
              <a:t>NordFlow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3703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ЗНАЧЕНИЕ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114800"/>
            <a:ext cx="4114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Знак — стилизованная волна, вливающаяся в северную вершину. Символ соединения потока (Flow) и надёжности (Nord).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05 · ЛОГОТИП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Охранная зона и минимальный размер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4008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63040" y="2651760"/>
            <a:ext cx="4754880" cy="0"/>
          </a:xfrm>
          <a:prstGeom prst="line">
            <a:avLst/>
          </a:prstGeom>
          <a:ln w="12700">
            <a:solidFill>
              <a:srgbClr val="00A9A5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217920" y="2651760"/>
            <a:ext cx="0" cy="2834640"/>
          </a:xfrm>
          <a:prstGeom prst="line">
            <a:avLst/>
          </a:prstGeom>
          <a:ln w="12700">
            <a:solidFill>
              <a:srgbClr val="00A9A5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463040" y="5486400"/>
            <a:ext cx="4754880" cy="0"/>
          </a:xfrm>
          <a:prstGeom prst="line">
            <a:avLst/>
          </a:prstGeom>
          <a:ln w="12700">
            <a:solidFill>
              <a:srgbClr val="00A9A5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463040" y="2651760"/>
            <a:ext cx="0" cy="2834640"/>
          </a:xfrm>
          <a:prstGeom prst="line">
            <a:avLst/>
          </a:prstGeom>
          <a:ln w="12700">
            <a:solidFill>
              <a:srgbClr val="00A9A5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108960"/>
            <a:ext cx="2926080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63040" y="557784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Отступ = высота знака ×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0312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МИНИМАЛЬНЫЕ РАЗМЕРЫ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74320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Печать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788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12 мм по высоте знака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352044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Экран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566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24 px по высоте знака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2976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Favicon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343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не менее 32 × 32 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50749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App icon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51206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не менее 512 × 512 px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06 · ЛОГОТИП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Цветовые вариации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68880"/>
            <a:ext cx="1508760" cy="1508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60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2E4F"/>
                </a:solidFill>
                <a:latin typeface="Montserrat"/>
              </a:rPr>
              <a:t>NordFlow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ОСНОВНАЯ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10312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2468880"/>
            <a:ext cx="1508760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29000" y="4160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NordFlow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663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НА ТЁМНОМ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10312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68880"/>
            <a:ext cx="1508760" cy="1508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4160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NordFlow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663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АКЦЕНТНАЯ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103120"/>
            <a:ext cx="2606040" cy="310896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79" y="2468880"/>
            <a:ext cx="1508760" cy="1508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06839" y="4160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NordFlow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39" y="4663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МОНОХРОМ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ПРАВИЛА ИСПОЛЬЗОВАНИЯ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На светлом фоне — основная версия. На тёмном — белый знак. Монохром — только когда цветной вариант физически невозможен.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07 · ЦВЕТОВАЯ ПАЛИТРА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Основные и акцентные цвета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ОСНОВНЫЕ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Deep Fjord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#0B2E4F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R11 G46 B79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Основной. Фоны, заголовки, кнопки.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Aurora Teal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#00A9A5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6576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R0 G169 B165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Дополнительный. Активные состояния.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59" y="21488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23774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F"/>
                </a:solidFill>
                <a:latin typeface="Montserrat"/>
              </a:rPr>
              <a:t>Glacier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9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2E4F"/>
                </a:solidFill>
                <a:latin typeface="Montserrat"/>
              </a:rPr>
              <a:t>#4CC9F0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6576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R76 G201 B240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9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Акцент. Ссылки, инфоблоки.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ДОПОЛНИТЕЛЬНЫЕ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Northern Sun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0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#FF7A59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17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R255 G122 B89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92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CTA, важные акценты.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937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Montserrat"/>
              </a:rPr>
              <a:t>Graphite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40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#1B2735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6217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R27 G39 B53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6492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Текст, тёмные подложки.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59" y="470916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9" y="4937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B2E4F"/>
                </a:solidFill>
                <a:latin typeface="Montserrat"/>
              </a:rPr>
              <a:t>Snow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54406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B2E4F"/>
                </a:solidFill>
                <a:latin typeface="Montserrat"/>
              </a:rPr>
              <a:t>#F4F7FA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9" y="62179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R244 G247 B250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79" y="649224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6274"/>
                </a:solidFill>
                <a:latin typeface="Segoe UI"/>
              </a:rPr>
              <a:t>Фон, разделители, карточки.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08 · ПАЛИТРА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Пропорции использования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6528816" cy="14630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Deep Fjord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94560"/>
            <a:ext cx="3264408" cy="14630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2468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B2E4F"/>
                </a:solidFill>
                <a:latin typeface="Montserrat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496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E4F"/>
                </a:solidFill>
                <a:latin typeface="Montserrat"/>
              </a:rPr>
              <a:t>Snow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3304" y="2194560"/>
            <a:ext cx="761695" cy="146304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1904" y="2468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1904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Aurora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94999" y="2194560"/>
            <a:ext cx="326440" cy="146304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23599" y="24688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FFFFFF"/>
                </a:solidFill>
                <a:latin typeface="Montserrat"/>
              </a:rPr>
              <a:t>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23599" y="3154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ontserrat"/>
              </a:rPr>
              <a:t>Sun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Правило 60 / 30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60% композиции занимает основной Deep Fjord — он держит настроение бренда. 30% — светлые нейтральные подложки, чтобы дышал воздух. И только 10% отдаём ярким акцентам: Aurora для второстепенных действий и Northern Sun для главного CTA. Никогда не заливайте макет акцентными цветами — они теряют силу.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09 · ТИПОГРАФИКА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Шрифтовая система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ЗАГОЛОВОЧНЫЙ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0B2E4F"/>
                </a:solidFill>
                <a:latin typeface="Montserrat"/>
              </a:rPr>
              <a:t>Montserrat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B2735"/>
                </a:solidFill>
                <a:latin typeface="Montserrat"/>
              </a:rPr>
              <a:t>Aa Bb Cc Dd Ее Жж Зз 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B2735"/>
                </a:solidFill>
                <a:latin typeface="Montserrat"/>
              </a:rPr>
              <a:t>0 1 2 3 4 5 6 7 8 9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A9A5"/>
                </a:solidFill>
                <a:latin typeface="Montserrat"/>
              </a:rPr>
              <a:t>НАЧЕРТАНИЯ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735"/>
                </a:solidFill>
                <a:latin typeface="Montserrat"/>
              </a:rPr>
              <a:t>Regular · Medium · SemiBold · Bold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120640" cy="411480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ТЕКСТОВЫЙ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1460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Inter / Segoe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4F7FA"/>
                </a:solidFill>
                <a:latin typeface="Segoe UI"/>
              </a:rPr>
              <a:t>Aa Bb Cc Dd Ее Жж Зз 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F4F7FA"/>
                </a:solidFill>
                <a:latin typeface="Segoe UI"/>
              </a:rPr>
              <a:t>0 1 2 3 4 5 6 7 8 9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НАЧЕРТАНИЯ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57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4F7FA"/>
                </a:solidFill>
                <a:latin typeface="Segoe UI"/>
              </a:rPr>
              <a:t>Regular · Medium · SemiBold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10 · ТИПОГРАФИКА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Иерархия и размерная сетка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H1 · Display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677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48 / 56 · Bold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0B2E4F"/>
                </a:solidFill>
                <a:latin typeface="Montserrat"/>
              </a:rPr>
              <a:t>Крупный заголовок обложек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72968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700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H2 ·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34 / 42 · Bold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78608"/>
            <a:ext cx="8412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Заголовок раздела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2841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H3 · Heading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844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24 / 32 · SemiBold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28416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B2E4F"/>
                </a:solidFill>
                <a:latin typeface="Montserrat"/>
              </a:rPr>
              <a:t>Подзаголовок блока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89704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8678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Body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42816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18 / 28 · Regular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986784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B2E4F"/>
                </a:solidFill>
                <a:latin typeface="Montserrat"/>
              </a:rPr>
              <a:t>Основной длинный текст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48072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4515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Body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0118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14 / 22 · 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645152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B2E4F"/>
                </a:solidFill>
                <a:latin typeface="Segoe UI"/>
              </a:rPr>
              <a:t>Подписи, вспомогательный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06440"/>
            <a:ext cx="10881360" cy="9525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035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Caption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595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67486"/>
                </a:solidFill>
                <a:latin typeface="Montserrat"/>
              </a:rPr>
              <a:t>11 / 16 · Medium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303520"/>
            <a:ext cx="8412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B2E4F"/>
                </a:solidFill>
                <a:latin typeface="Segoe UI"/>
              </a:rPr>
              <a:t>Метки, футер, кэпшн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11 · ТОН КОММУНИКАЦИИ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Как мы говорим с клиентом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Просто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267712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Пишем короткими предложениями. Без канцелярита и англицизмов, если есть русский аналог.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8999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По делу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56431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Каждый абзац — одна мысль. Уважаем время читателя.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17720"/>
            <a:ext cx="1280160" cy="457200"/>
          </a:xfrm>
          <a:prstGeom prst="roundRect">
            <a:avLst>
              <a:gd name="adj" fmla="val 50000"/>
            </a:avLst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Уверенно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645152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B2735"/>
                </a:solidFill>
                <a:latin typeface="Segoe UI"/>
              </a:rPr>
              <a:t>Формулируем утверждениями, а не «попробуем/возможно».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011680"/>
            <a:ext cx="4663440" cy="41148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ПРИМЕРЫ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2651760"/>
            <a:ext cx="274320" cy="274320"/>
          </a:xfrm>
          <a:prstGeom prst="ellipse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587752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Запустим MVP за 6 недель.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3520440"/>
            <a:ext cx="274320" cy="27432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3474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456432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Мы постараемся по возможности запустить продукт в разумные сроки.</a:t>
            </a:r>
          </a:p>
        </p:txBody>
      </p:sp>
      <p:sp>
        <p:nvSpPr>
          <p:cNvPr id="20" name="Oval 19"/>
          <p:cNvSpPr/>
          <p:nvPr/>
        </p:nvSpPr>
        <p:spPr>
          <a:xfrm>
            <a:off x="7132320" y="4389120"/>
            <a:ext cx="274320" cy="274320"/>
          </a:xfrm>
          <a:prstGeom prst="ellipse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43434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325112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Автоматизируем рутину — освободим 20 часов в неделю.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0" y="5257800"/>
            <a:ext cx="274320" cy="27432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52120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Montserrat"/>
              </a:rPr>
              <a:t>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193792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1B2735"/>
                </a:solidFill>
                <a:latin typeface="Segoe UI"/>
              </a:rPr>
              <a:t>Внедрение системы автоматизации бизнес-процессов повысит эффективность.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4CC9F0"/>
                </a:solidFill>
                <a:latin typeface="Montserrat"/>
              </a:rPr>
              <a:t>12 · ПРИМЕНЕНИЕ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Montserrat"/>
              </a:rPr>
              <a:t>Как бренд живёт в продукте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583680" cy="3840480"/>
          </a:xfrm>
          <a:prstGeom prst="roundRect">
            <a:avLst>
              <a:gd name="adj" fmla="val 8000"/>
            </a:avLst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6309360" cy="3566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63093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59152"/>
            <a:ext cx="256032" cy="256032"/>
          </a:xfrm>
          <a:prstGeom prst="ellipse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3591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0B2E4F"/>
                </a:solidFill>
                <a:latin typeface="Montserrat"/>
              </a:rPr>
              <a:t>NordFlow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B2735"/>
                </a:solidFill>
                <a:latin typeface="Montserrat"/>
              </a:rPr>
              <a:t>Услуги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B2735"/>
                </a:solidFill>
                <a:latin typeface="Montserrat"/>
              </a:rPr>
              <a:t>Кейсы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B2735"/>
                </a:solidFill>
                <a:latin typeface="Montserrat"/>
              </a:rPr>
              <a:t>Блог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3774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B2735"/>
                </a:solidFill>
                <a:latin typeface="Montserrat"/>
              </a:rPr>
              <a:t>Контакты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359152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Обсудить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2E4F"/>
                </a:solidFill>
                <a:latin typeface="Montserrat"/>
              </a:rPr>
              <a:t>Digital-продукты для роста бизнеса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40"/>
            <a:ext cx="5852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Сайты, приложения и автоматизация под ключ.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069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"/>
              </a:rPr>
              <a:t>Начать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06908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0" bIns="0"/>
          <a:lstStyle/>
          <a:p>
            <a:pPr algn="ctr"/>
            <a:r>
              <a:rPr sz="1000" b="1">
                <a:solidFill>
                  <a:srgbClr val="0B2E4F"/>
                </a:solidFill>
                <a:latin typeface="Montserrat"/>
              </a:rPr>
              <a:t>Кейсы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4892040"/>
            <a:ext cx="365760" cy="365760"/>
          </a:xfrm>
          <a:prstGeom prst="ellipse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49651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E4F"/>
                </a:solidFill>
                <a:latin typeface="Montserrat"/>
              </a:rPr>
              <a:t>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7180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54680" y="4892040"/>
            <a:ext cx="365760" cy="365760"/>
          </a:xfrm>
          <a:prstGeom prst="ellipse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9651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E4F"/>
                </a:solidFill>
                <a:latin typeface="Montserrat"/>
              </a:rPr>
              <a:t>Mobile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470916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20640" y="4892040"/>
            <a:ext cx="365760" cy="36576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49651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2E4F"/>
                </a:solidFill>
                <a:latin typeface="Montserrat"/>
              </a:rPr>
              <a:t>Автоматизация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2103120"/>
            <a:ext cx="2011680" cy="4114800"/>
          </a:xfrm>
          <a:prstGeom prst="roundRect">
            <a:avLst>
              <a:gd name="adj" fmla="val 12000"/>
            </a:avLst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45552" y="2176272"/>
            <a:ext cx="1865376" cy="3968496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58200" y="2212848"/>
            <a:ext cx="640080" cy="137160"/>
          </a:xfrm>
          <a:prstGeom prst="rect">
            <a:avLst/>
          </a:prstGeom>
          <a:solidFill>
            <a:srgbClr val="1B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606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ontserrat"/>
              </a:rPr>
              <a:t>NordFlow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88036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CC9F0"/>
                </a:solidFill>
                <a:latin typeface="Montserrat"/>
              </a:rPr>
              <a:t>Панель клиента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338328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11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55280" y="3383280"/>
            <a:ext cx="73152" cy="6858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429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749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9AD"/>
                </a:solidFill>
                <a:latin typeface="Segoe UI"/>
              </a:rPr>
              <a:t>проектов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80" y="420624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11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55280" y="4206240"/>
            <a:ext cx="73152" cy="68580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251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5720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9AD"/>
                </a:solidFill>
                <a:latin typeface="Segoe UI"/>
              </a:rPr>
              <a:t>задач сегодня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80" y="5029200"/>
            <a:ext cx="1645920" cy="685800"/>
          </a:xfrm>
          <a:prstGeom prst="roundRect">
            <a:avLst>
              <a:gd name="adj" fmla="val 8000"/>
            </a:avLst>
          </a:prstGeom>
          <a:solidFill>
            <a:srgbClr val="11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55280" y="5029200"/>
            <a:ext cx="73152" cy="685800"/>
          </a:xfrm>
          <a:prstGeom prst="rect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5074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ontserrat"/>
              </a:rPr>
              <a:t>₽ 2.1M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5394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9AD"/>
                </a:solidFill>
                <a:latin typeface="Segoe UI"/>
              </a:rPr>
              <a:t>оборот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58400" y="2103120"/>
            <a:ext cx="1737360" cy="219456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0" y="2103120"/>
            <a:ext cx="1737360" cy="32004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95560" y="26060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B2E4F"/>
                </a:solidFill>
                <a:latin typeface="Montserrat"/>
              </a:rPr>
              <a:t>NordFlow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60" y="29718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B2735"/>
                </a:solidFill>
                <a:latin typeface="Montserrat"/>
              </a:rPr>
              <a:t>Anna Sokolova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320040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67486"/>
                </a:solidFill>
                <a:latin typeface="Segoe UI"/>
              </a:rPr>
              <a:t>Product Manager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36118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0B2E4F"/>
                </a:solidFill>
                <a:latin typeface="Montserrat"/>
              </a:rPr>
              <a:t>hello@nordflow.io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384048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0B2E4F"/>
                </a:solidFill>
                <a:latin typeface="Montserrat"/>
              </a:rPr>
              <a:t>+7 (495) 000-00-00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0" y="4480560"/>
            <a:ext cx="1737360" cy="1463040"/>
          </a:xfrm>
          <a:prstGeom prst="roundRect">
            <a:avLst>
              <a:gd name="adj" fmla="val 8000"/>
            </a:avLst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95560" y="457200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2E4F"/>
                </a:solidFill>
                <a:latin typeface="Montserrat"/>
              </a:rPr>
              <a:t>MERCH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560" y="4892040"/>
            <a:ext cx="1554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0B2E4F"/>
                </a:solidFill>
                <a:latin typeface="Segoe UI"/>
              </a:rPr>
              <a:t>Мерч и сувенирка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0B2E4F"/>
                </a:solidFill>
                <a:latin typeface="Segoe UI"/>
              </a:rPr>
              <a:t>в едином стиле: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0B2E4F"/>
                </a:solidFill>
                <a:latin typeface="Segoe UI"/>
              </a:rPr>
              <a:t>стикеры, футболки,</a:t>
            </a:r>
          </a:p>
          <a:p>
            <a:pPr algn="l">
              <a:lnSpc>
                <a:spcPct val="130000"/>
              </a:lnSpc>
            </a:pPr>
            <a:r>
              <a:rPr sz="800" b="0">
                <a:solidFill>
                  <a:srgbClr val="0B2E4F"/>
                </a:solidFill>
                <a:latin typeface="Segoe UI"/>
              </a:rPr>
              <a:t>блокноты, кружки.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9AD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8A99AD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A9A5"/>
                </a:solidFill>
                <a:latin typeface="Montserrat"/>
              </a:rPr>
              <a:t>13 ·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0B2E4F"/>
                </a:solidFill>
                <a:latin typeface="Montserrat"/>
              </a:rPr>
              <a:t>Так делать нельзя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548640" cy="381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42316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искажайте пропорции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Знак растягивается только пропорционально.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87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68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меняйте цвета логотипа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1089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Только утверждённые варианты палитры.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10312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9" y="242316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9" y="24871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468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размещайте на пёстром фоне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10896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Нужен спокойный фон или подложка.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062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452628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90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5720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поворачивайте знак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12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Логотип используется только горизонтально.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3440" y="452628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4590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5720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добавляйте эффекты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212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Никаких теней, обводок, свечения.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420624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79" y="4526280"/>
            <a:ext cx="457200" cy="457200"/>
          </a:xfrm>
          <a:prstGeom prst="ellipse">
            <a:avLst/>
          </a:prstGeom>
          <a:solidFill>
            <a:srgbClr val="FF7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45902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ontserrat"/>
              </a:rPr>
              <a:t>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5720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2E4F"/>
                </a:solidFill>
                <a:latin typeface="Montserrat"/>
              </a:rPr>
              <a:t>Не нарушайте охранную зону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521208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1B2735"/>
                </a:solidFill>
                <a:latin typeface="Segoe UI"/>
              </a:rPr>
              <a:t>Другие элементы держим на расстоянии.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9AA6B2"/>
                </a:solidFill>
                <a:latin typeface="Montserrat"/>
              </a:rPr>
              <a:t>NordFlow · Brandbook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>
                <a:solidFill>
                  <a:srgbClr val="9AA6B2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tter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CC9F0"/>
                </a:solidFill>
                <a:latin typeface="Montserrat"/>
              </a:rPr>
              <a:t>СПАСИБО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ontserrat"/>
              </a:rPr>
              <a:t>Давайте работать</a:t>
            </a:r>
          </a:p>
          <a:p>
            <a:pPr algn="l">
              <a:lnSpc>
                <a:spcPct val="110000"/>
              </a:lnSpc>
            </a:pPr>
            <a:r>
              <a:rPr sz="5400" b="1">
                <a:solidFill>
                  <a:srgbClr val="FFFFFF"/>
                </a:solidFill>
                <a:latin typeface="Montserrat"/>
              </a:rPr>
              <a:t>в одном потоке.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10881360" cy="1645920"/>
          </a:xfrm>
          <a:prstGeom prst="roundRect">
            <a:avLst>
              <a:gd name="adj" fmla="val 8000"/>
            </a:avLst>
          </a:prstGeom>
          <a:solidFill>
            <a:srgbClr val="113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САЙТ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ontserrat"/>
              </a:rPr>
              <a:t>nordflow.io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ПОЧТА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9834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ontserrat"/>
              </a:rPr>
              <a:t>hello@nordflow.io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ТЕЛЕФОН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9834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ontserrat"/>
              </a:rPr>
              <a:t>+7 (495) 000-00-00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45720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4CC9F0"/>
                </a:solidFill>
                <a:latin typeface="Montserrat"/>
              </a:rPr>
              <a:t>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498348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Montserrat"/>
              </a:rPr>
              <a:t>@nordflow_team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9AD"/>
                </a:solidFill>
                <a:latin typeface="Montserrat"/>
              </a:rPr>
              <a:t>NordFlow · Brandbook v1.0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